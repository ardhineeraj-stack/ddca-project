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2" r:id="rId9"/>
    <p:sldId id="264" r:id="rId10"/>
    <p:sldId id="263" r:id="rId11"/>
  </p:sldIdLst>
  <p:sldSz cx="12192000" cy="6858000"/>
  <p:notesSz cx="6858000" cy="12192000"/>
  <p:embeddedFontLst>
    <p:embeddedFont>
      <p:font typeface="Dela Gothic One" panose="020B0604020202020204" charset="-128"/>
      <p:regular r:id="rId13"/>
    </p:embeddedFont>
    <p:embeddedFont>
      <p:font typeface="Arial Rounded MT Bold" panose="020F0704030504030204" pitchFamily="34" charset="0"/>
      <p:regular r:id="rId14"/>
    </p:embeddedFont>
    <p:embeddedFont>
      <p:font typeface="DM Sans" pitchFamily="2" charset="0"/>
      <p:regular r:id="rId15"/>
    </p:embeddedFont>
    <p:embeddedFont>
      <p:font typeface="DM Sans Bold" panose="020B0604020202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25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76013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03794" y="277119"/>
            <a:ext cx="6355993" cy="11878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Working Principle of Timers &amp; Splitters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03794" y="2000431"/>
            <a:ext cx="6355993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How hardware counts time, generates events, and captures snapshots — with a practical VHDL stopwatch example.</a:t>
            </a:r>
            <a:endParaRPr lang="en-US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9C7E2B-09ED-1244-5F8E-DE46A9A69559}"/>
              </a:ext>
            </a:extLst>
          </p:cNvPr>
          <p:cNvSpPr txBox="1"/>
          <p:nvPr/>
        </p:nvSpPr>
        <p:spPr>
          <a:xfrm>
            <a:off x="6200274" y="27913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BAF3CF-57A3-21EA-3DBC-F21190C9A6AE}"/>
              </a:ext>
            </a:extLst>
          </p:cNvPr>
          <p:cNvSpPr txBox="1"/>
          <p:nvPr/>
        </p:nvSpPr>
        <p:spPr>
          <a:xfrm>
            <a:off x="7708233" y="4692679"/>
            <a:ext cx="424313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Dela Gothic One" panose="020B0604020202020204" charset="-128"/>
                <a:ea typeface="Dela Gothic One" panose="020B0604020202020204" charset="-128"/>
              </a:rPr>
              <a:t>Group Members :</a:t>
            </a:r>
          </a:p>
          <a:p>
            <a:r>
              <a:rPr lang="en-US" dirty="0">
                <a:solidFill>
                  <a:schemeClr val="bg1"/>
                </a:solidFill>
                <a:latin typeface="Dela Gothic One" panose="020B0604020202020204" charset="-128"/>
                <a:ea typeface="Dela Gothic One" panose="020B0604020202020204" charset="-128"/>
              </a:rPr>
              <a:t>HARISH - 2620080071</a:t>
            </a:r>
          </a:p>
          <a:p>
            <a:r>
              <a:rPr lang="en-US" dirty="0">
                <a:solidFill>
                  <a:schemeClr val="bg1"/>
                </a:solidFill>
                <a:latin typeface="Dela Gothic One" panose="020B0604020202020204" charset="-128"/>
                <a:ea typeface="Dela Gothic One" panose="020B0604020202020204" charset="-128"/>
              </a:rPr>
              <a:t>NEERAJ - 2620080074</a:t>
            </a:r>
          </a:p>
          <a:p>
            <a:r>
              <a:rPr lang="en-US" dirty="0">
                <a:solidFill>
                  <a:schemeClr val="bg1"/>
                </a:solidFill>
                <a:latin typeface="Dela Gothic One" panose="020B0604020202020204" charset="-128"/>
                <a:ea typeface="Dela Gothic One" panose="020B0604020202020204" charset="-128"/>
              </a:rPr>
              <a:t>SNEHA- 2620080080</a:t>
            </a:r>
          </a:p>
          <a:p>
            <a:r>
              <a:rPr lang="en-US" dirty="0">
                <a:solidFill>
                  <a:schemeClr val="bg1"/>
                </a:solidFill>
                <a:latin typeface="Dela Gothic One" panose="020B0604020202020204" charset="-128"/>
                <a:ea typeface="Dela Gothic One" panose="020B0604020202020204" charset="-128"/>
              </a:rPr>
              <a:t>SANTHOSHI - 2620080081</a:t>
            </a:r>
          </a:p>
          <a:p>
            <a:r>
              <a:rPr lang="en-US" dirty="0">
                <a:solidFill>
                  <a:schemeClr val="bg1"/>
                </a:solidFill>
                <a:latin typeface="Dela Gothic One" panose="020B0604020202020204" charset="-128"/>
                <a:ea typeface="Dela Gothic One" panose="020B0604020202020204" charset="-128"/>
              </a:rPr>
              <a:t>TANUSH - 26200800120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03794" y="661988"/>
            <a:ext cx="6355993" cy="17817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Why Timers Exist: Software Delays Aren't Time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03794" y="2714526"/>
            <a:ext cx="6355993" cy="1155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Software loops are unreliable for measuring time — interrupts and CPU load introduce unpredictable delays. A </a:t>
            </a:r>
            <a:r>
              <a:rPr lang="en-US" sz="14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hardware timer</a:t>
            </a: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is a dedicated counter driven by a stable clock, so you know precisely when a fixed interval has elapsed, regardless of what the CPU is doing.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203794" y="4073327"/>
            <a:ext cx="6355993" cy="2122686"/>
          </a:xfrm>
          <a:prstGeom prst="roundRect">
            <a:avLst>
              <a:gd name="adj" fmla="val 3572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210144" y="4079677"/>
            <a:ext cx="6343293" cy="1054993"/>
          </a:xfrm>
          <a:custGeom>
            <a:avLst/>
            <a:gdLst/>
            <a:ahLst/>
            <a:cxnLst/>
            <a:rect l="l" t="t" r="r" b="b"/>
            <a:pathLst>
              <a:path w="6343293" h="1054993">
                <a:moveTo>
                  <a:pt x="63192" y="0"/>
                </a:moveTo>
                <a:lnTo>
                  <a:pt x="6280101" y="0"/>
                </a:lnTo>
                <a:arcTo wR="63192" hR="63193" stAng="16200000" swAng="5400000"/>
                <a:lnTo>
                  <a:pt x="6343293" y="1054993"/>
                </a:lnTo>
                <a:lnTo>
                  <a:pt x="0" y="1054993"/>
                </a:lnTo>
                <a:lnTo>
                  <a:pt x="0" y="63193"/>
                </a:lnTo>
                <a:arcTo wR="63192" hR="63193" stAng="10800000" swAng="5400000"/>
                <a:close/>
              </a:path>
            </a:pathLst>
          </a:custGeom>
          <a:solidFill>
            <a:srgbClr val="740B0B"/>
          </a:solidFill>
          <a:ln/>
        </p:spPr>
      </p:sp>
      <p:sp>
        <p:nvSpPr>
          <p:cNvPr id="7" name="Text 4"/>
          <p:cNvSpPr/>
          <p:nvPr/>
        </p:nvSpPr>
        <p:spPr>
          <a:xfrm>
            <a:off x="5390618" y="4260155"/>
            <a:ext cx="598234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Software Delay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5390618" y="4665266"/>
            <a:ext cx="5982344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Unreliable under interrupts or heavy CPU load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210144" y="5134670"/>
            <a:ext cx="6343293" cy="1054993"/>
          </a:xfrm>
          <a:custGeom>
            <a:avLst/>
            <a:gdLst/>
            <a:ahLst/>
            <a:cxnLst/>
            <a:rect l="l" t="t" r="r" b="b"/>
            <a:pathLst>
              <a:path w="6343293" h="1054993">
                <a:moveTo>
                  <a:pt x="0" y="0"/>
                </a:moveTo>
                <a:lnTo>
                  <a:pt x="6343293" y="0"/>
                </a:lnTo>
                <a:lnTo>
                  <a:pt x="6343293" y="991800"/>
                </a:lnTo>
                <a:arcTo wR="63192" hR="63193" stAng="0" swAng="5400000"/>
                <a:lnTo>
                  <a:pt x="63192" y="1054993"/>
                </a:lnTo>
                <a:arcTo wR="63192" hR="63193" stAng="5400000" swAng="5400000"/>
                <a:lnTo>
                  <a:pt x="0" y="0"/>
                </a:lnTo>
                <a:close/>
              </a:path>
            </a:pathLst>
          </a:custGeom>
          <a:solidFill>
            <a:srgbClr val="740B0B"/>
          </a:solidFill>
          <a:ln/>
        </p:spPr>
      </p:sp>
      <p:sp>
        <p:nvSpPr>
          <p:cNvPr id="10" name="Shape 7"/>
          <p:cNvSpPr/>
          <p:nvPr/>
        </p:nvSpPr>
        <p:spPr>
          <a:xfrm>
            <a:off x="5210144" y="5134670"/>
            <a:ext cx="6343293" cy="25400"/>
          </a:xfrm>
          <a:prstGeom prst="roundRect">
            <a:avLst>
              <a:gd name="adj" fmla="val 49999"/>
            </a:avLst>
          </a:prstGeom>
          <a:solidFill>
            <a:srgbClr val="8D2424"/>
          </a:solidFill>
          <a:ln/>
        </p:spPr>
      </p:sp>
      <p:sp>
        <p:nvSpPr>
          <p:cNvPr id="11" name="Text 8"/>
          <p:cNvSpPr/>
          <p:nvPr/>
        </p:nvSpPr>
        <p:spPr>
          <a:xfrm>
            <a:off x="5390618" y="5315148"/>
            <a:ext cx="598234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Hardware Timer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5390618" y="5720259"/>
            <a:ext cx="5982344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Dedicated counter, independent of CPU activity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511770"/>
            <a:ext cx="10927878" cy="10392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The Core Loop: Clock → Count → Compare → Event</a:t>
            </a:r>
            <a:endParaRPr lang="en-US" sz="3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6812" y="1827411"/>
            <a:ext cx="8498072" cy="38893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53818" y="4784985"/>
            <a:ext cx="1595446" cy="323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Event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6343120" y="4784985"/>
            <a:ext cx="1595445" cy="323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Compare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343349" y="4784985"/>
            <a:ext cx="1595445" cy="323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Counter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2299868" y="4784985"/>
            <a:ext cx="1595445" cy="323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Clock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31908" y="5872262"/>
            <a:ext cx="10927878" cy="473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timer accumulates ticks from a chosen clock source. When the count reaches a preset threshold — or overflows — hardware raises an event flag, allowing your program to respond precisely. Designers trade </a:t>
            </a:r>
            <a:r>
              <a:rPr lang="en-US" sz="12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resolution</a:t>
            </a: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against </a:t>
            </a:r>
            <a:r>
              <a:rPr lang="en-US" sz="12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range</a:t>
            </a: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by selecting the clock frequency and prescaler.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08" y="805656"/>
            <a:ext cx="6948909" cy="393779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027687" y="910233"/>
            <a:ext cx="1526343" cy="274241"/>
          </a:xfrm>
          <a:prstGeom prst="roundRect">
            <a:avLst>
              <a:gd name="adj" fmla="val 22121"/>
            </a:avLst>
          </a:prstGeom>
          <a:solidFill>
            <a:srgbClr val="460707"/>
          </a:solidFill>
          <a:ln/>
        </p:spPr>
      </p:sp>
      <p:sp>
        <p:nvSpPr>
          <p:cNvPr id="4" name="Text 1"/>
          <p:cNvSpPr/>
          <p:nvPr/>
        </p:nvSpPr>
        <p:spPr>
          <a:xfrm>
            <a:off x="8135932" y="964307"/>
            <a:ext cx="1919438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SPLITTER CONCEPT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8027687" y="1256605"/>
            <a:ext cx="3538350" cy="23756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One Time Source, Multiple Views</a:t>
            </a:r>
            <a:endParaRPr lang="en-US" sz="3700" dirty="0"/>
          </a:p>
        </p:txBody>
      </p:sp>
      <p:sp>
        <p:nvSpPr>
          <p:cNvPr id="6" name="Text 3"/>
          <p:cNvSpPr/>
          <p:nvPr/>
        </p:nvSpPr>
        <p:spPr>
          <a:xfrm>
            <a:off x="8027687" y="3812778"/>
            <a:ext cx="3538350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</a:t>
            </a:r>
            <a:r>
              <a:rPr lang="en-US" sz="14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splitter</a:t>
            </a: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lets you freeze a displayed value while the internal time generator keeps counting. Conceptually: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1908" y="5149652"/>
            <a:ext cx="5373652" cy="110579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39380" y="5355530"/>
            <a:ext cx="4860307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time_gen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939380" y="5760641"/>
            <a:ext cx="4860307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Continuously updates counter value </a:t>
            </a:r>
            <a:r>
              <a:rPr lang="en-US" sz="14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N</a:t>
            </a:r>
            <a:endParaRPr lang="en-US" sz="1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86035" y="5149652"/>
            <a:ext cx="5373752" cy="110579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493506" y="5355530"/>
            <a:ext cx="4860407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diload (split toggle)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6493506" y="5760641"/>
            <a:ext cx="4860407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When low, </a:t>
            </a:r>
            <a:r>
              <a:rPr lang="en-US" sz="14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DI stops loading</a:t>
            </a: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new values — display freezes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1908" y="502642"/>
            <a:ext cx="6355993" cy="16701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The 555 Timer: Time from Charge &amp; Discharge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631908" y="2410817"/>
            <a:ext cx="6355993" cy="7870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classic </a:t>
            </a:r>
            <a:r>
              <a:rPr lang="en-US" sz="13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555 timer IC</a:t>
            </a:r>
            <a:r>
              <a:rPr lang="en-US" sz="13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produces precise timing intervals using an external capacitor and resistors. Internal comparators monitor the capacitor voltage, and an RS flip-flop switches the output state when thresholds are crossed.</a:t>
            </a:r>
            <a:endParaRPr lang="en-US" sz="13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1908" y="3376315"/>
            <a:ext cx="338526" cy="33853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68768" y="3434457"/>
            <a:ext cx="5819133" cy="278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Charge Phase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1168768" y="3808016"/>
            <a:ext cx="5819133" cy="262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Capacitor voltage rises through R until it hits </a:t>
            </a:r>
            <a:r>
              <a:rPr lang="en-US" sz="13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⅔ VCC</a:t>
            </a:r>
            <a:r>
              <a:rPr lang="en-US" sz="13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(upper threshold)</a:t>
            </a:r>
            <a:endParaRPr lang="en-US" sz="13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1908" y="4387652"/>
            <a:ext cx="338526" cy="33853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68768" y="4445794"/>
            <a:ext cx="5819133" cy="278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Discharge Phase</a:t>
            </a:r>
            <a:endParaRPr lang="en-US" sz="1750" dirty="0"/>
          </a:p>
        </p:txBody>
      </p:sp>
      <p:sp>
        <p:nvSpPr>
          <p:cNvPr id="10" name="Text 5"/>
          <p:cNvSpPr/>
          <p:nvPr/>
        </p:nvSpPr>
        <p:spPr>
          <a:xfrm>
            <a:off x="1168768" y="4819352"/>
            <a:ext cx="5819133" cy="5246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Flip-flop toggles; capacitor discharges until it hits </a:t>
            </a:r>
            <a:r>
              <a:rPr lang="en-US" sz="13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⅓ VCC</a:t>
            </a:r>
            <a:r>
              <a:rPr lang="en-US" sz="13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(lower threshold)</a:t>
            </a:r>
            <a:endParaRPr lang="en-US" sz="13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1908" y="5661323"/>
            <a:ext cx="338526" cy="33853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168768" y="5719465"/>
            <a:ext cx="5819133" cy="278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Output Switch</a:t>
            </a:r>
            <a:endParaRPr lang="en-US" sz="1750" dirty="0"/>
          </a:p>
        </p:txBody>
      </p:sp>
      <p:sp>
        <p:nvSpPr>
          <p:cNvPr id="13" name="Text 7"/>
          <p:cNvSpPr/>
          <p:nvPr/>
        </p:nvSpPr>
        <p:spPr>
          <a:xfrm>
            <a:off x="1168768" y="6093023"/>
            <a:ext cx="5819133" cy="262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RS flip-flop drives output HIGH or LOW based on comparator states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502245"/>
            <a:ext cx="10927878" cy="315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555 Modes: Direct Mapping to Timer Behaviours</a:t>
            </a:r>
            <a:endParaRPr lang="en-US" sz="1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08" y="951409"/>
            <a:ext cx="5346963" cy="534709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19173" y="2891334"/>
            <a:ext cx="5956548" cy="117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7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Each mode maps to a distinct timer behaviour:</a:t>
            </a:r>
            <a:endParaRPr lang="en-US" sz="750" dirty="0"/>
          </a:p>
        </p:txBody>
      </p:sp>
      <p:sp>
        <p:nvSpPr>
          <p:cNvPr id="5" name="Shape 2"/>
          <p:cNvSpPr/>
          <p:nvPr/>
        </p:nvSpPr>
        <p:spPr>
          <a:xfrm>
            <a:off x="6219173" y="3066058"/>
            <a:ext cx="215795" cy="215801"/>
          </a:xfrm>
          <a:prstGeom prst="roundRect">
            <a:avLst>
              <a:gd name="adj" fmla="val 18668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251319" y="3079254"/>
            <a:ext cx="15140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485867" y="3098998"/>
            <a:ext cx="5080270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Monostable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485867" y="3307655"/>
            <a:ext cx="5080270" cy="117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7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Single pulse on trigger — ideal for one-shot delays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6219173" y="3527028"/>
            <a:ext cx="215795" cy="215801"/>
          </a:xfrm>
          <a:prstGeom prst="roundRect">
            <a:avLst>
              <a:gd name="adj" fmla="val 18668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51319" y="3540224"/>
            <a:ext cx="15140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2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485867" y="3559969"/>
            <a:ext cx="5080270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Astable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485867" y="3768626"/>
            <a:ext cx="5080270" cy="117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7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Continuous oscillation — RC cycles repeat indefinitely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6219173" y="3987998"/>
            <a:ext cx="215795" cy="215801"/>
          </a:xfrm>
          <a:prstGeom prst="roundRect">
            <a:avLst>
              <a:gd name="adj" fmla="val 18668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51319" y="4001195"/>
            <a:ext cx="15140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3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485867" y="4020939"/>
            <a:ext cx="5080270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Bistable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485867" y="4229596"/>
            <a:ext cx="5080270" cy="117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7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Latch behaviour — output holds until reset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 txBox="1"/>
          <p:nvPr/>
        </p:nvSpPr>
        <p:spPr>
          <a:xfrm>
            <a:off x="631908" y="365760"/>
            <a:ext cx="10928184" cy="8229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algn="ctr">
              <a:buNone/>
            </a:pPr>
            <a:r>
              <a:rPr lang="en-US" sz="26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Working Principle: Bit Splitter &amp; Timer/Counter</a:t>
            </a:r>
            <a:endParaRPr lang="en-US" sz="2600" dirty="0">
              <a:solidFill>
                <a:srgbClr val="FAEBEB"/>
              </a:solidFill>
              <a:latin typeface="Dela Gothic One" pitchFamily="34" charset="0"/>
            </a:endParaRPr>
          </a:p>
        </p:txBody>
      </p:sp>
      <p:pic>
        <p:nvPicPr>
          <p:cNvPr id="4" name="Diagram Image" descr="Bit Splitter and Clock-Driven Timer working principle diagr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9019" y="1500000"/>
            <a:ext cx="7413963" cy="5212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5109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1908" y="595412"/>
            <a:ext cx="6355993" cy="10392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Practical Example: VHDL Stopwatch with Split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631908" y="1841897"/>
            <a:ext cx="6355993" cy="473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VHDL stopwatch demonstrates both principles working together — a running time generator and a display latch for split timing.</a:t>
            </a:r>
            <a:endParaRPr lang="en-US" sz="12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908" y="2471241"/>
            <a:ext cx="789861" cy="94783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59977" y="2629198"/>
            <a:ext cx="5427924" cy="259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time_gen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1559977" y="2971800"/>
            <a:ext cx="5427924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Counters generate elapsed time digits continuously from clkin</a:t>
            </a:r>
            <a:endParaRPr lang="en-US" sz="12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908" y="3419078"/>
            <a:ext cx="789861" cy="94783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559977" y="3577034"/>
            <a:ext cx="5427924" cy="259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BTN(1) — Pause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1559977" y="3919637"/>
            <a:ext cx="5427924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Toggles clkin to pause time_gen internally</a:t>
            </a:r>
            <a:endParaRPr lang="en-US" sz="12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908" y="4366915"/>
            <a:ext cx="789861" cy="947837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559977" y="4524871"/>
            <a:ext cx="5427924" cy="259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BTN(2) — Split</a:t>
            </a: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1559977" y="4867473"/>
            <a:ext cx="5427924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Drives diload low; DI stops loading, freezing the display</a:t>
            </a:r>
            <a:endParaRPr lang="en-US" sz="12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908" y="5314752"/>
            <a:ext cx="789861" cy="947837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559977" y="5472708"/>
            <a:ext cx="5427924" cy="259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Result</a:t>
            </a:r>
            <a:endParaRPr lang="en-US" sz="1600" dirty="0"/>
          </a:p>
        </p:txBody>
      </p:sp>
      <p:sp>
        <p:nvSpPr>
          <p:cNvPr id="16" name="Text 9"/>
          <p:cNvSpPr/>
          <p:nvPr/>
        </p:nvSpPr>
        <p:spPr>
          <a:xfrm>
            <a:off x="1559977" y="5815310"/>
            <a:ext cx="5427924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Visible split captured while time keeps running — timer + splitter in action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7315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 Rounded MT Bold"/>
              </a:rPr>
              <a:t>Key Takeaways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54480"/>
            <a:ext cx="3538728" cy="3246120"/>
          </a:xfrm>
          <a:prstGeom prst="roundRect">
            <a:avLst>
              <a:gd name="adj" fmla="val 4000"/>
            </a:avLst>
          </a:prstGeom>
          <a:solidFill>
            <a:srgbClr val="161616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929384" y="1965960"/>
            <a:ext cx="777240" cy="777240"/>
          </a:xfrm>
          <a:prstGeom prst="ellipse">
            <a:avLst/>
          </a:prstGeom>
          <a:solidFill>
            <a:srgbClr val="B7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2077060" y="2113636"/>
            <a:ext cx="481888" cy="481888"/>
          </a:xfrm>
          <a:prstGeom prst="ellipse">
            <a:avLst/>
          </a:prstGeom>
          <a:noFill/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304034" y="2222061"/>
            <a:ext cx="27940" cy="13251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 rot="19500000">
            <a:off x="2318004" y="2340610"/>
            <a:ext cx="192755" cy="279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317296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 Rounded MT Bold"/>
              </a:rPr>
              <a:t>Timers Control WHEN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11880"/>
            <a:ext cx="2990088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 i="0">
                <a:solidFill>
                  <a:srgbClr val="B0B0B0"/>
                </a:solidFill>
                <a:latin typeface="Arial"/>
              </a:rPr>
              <a:t>They manage precise timing and trigger actions at exact moments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1554480"/>
            <a:ext cx="3538728" cy="3246120"/>
          </a:xfrm>
          <a:prstGeom prst="roundRect">
            <a:avLst>
              <a:gd name="adj" fmla="val 4000"/>
            </a:avLst>
          </a:prstGeom>
          <a:solidFill>
            <a:srgbClr val="161616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742432" y="1965960"/>
            <a:ext cx="777240" cy="777240"/>
          </a:xfrm>
          <a:prstGeom prst="ellipse">
            <a:avLst/>
          </a:prstGeom>
          <a:solidFill>
            <a:srgbClr val="B7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/>
          <p:nvPr/>
        </p:nvCxnSpPr>
        <p:spPr>
          <a:xfrm flipV="1">
            <a:off x="0" y="0"/>
            <a:ext cx="0" cy="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5911794" y="2303982"/>
            <a:ext cx="101196" cy="1011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212973" y="2147369"/>
            <a:ext cx="101196" cy="1011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212973" y="2460595"/>
            <a:ext cx="101196" cy="1011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44568" y="3017520"/>
            <a:ext cx="317296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 Rounded MT Bold"/>
              </a:rPr>
              <a:t>Splitters Control WHERE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008" y="3611880"/>
            <a:ext cx="2990088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 i="0">
                <a:solidFill>
                  <a:srgbClr val="B0B0B0"/>
                </a:solidFill>
                <a:latin typeface="Arial"/>
              </a:rPr>
              <a:t>They distribute signals to multiple destinations simultaneously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74736" y="1554480"/>
            <a:ext cx="3538728" cy="3246120"/>
          </a:xfrm>
          <a:prstGeom prst="roundRect">
            <a:avLst>
              <a:gd name="adj" fmla="val 4000"/>
            </a:avLst>
          </a:prstGeom>
          <a:solidFill>
            <a:srgbClr val="161616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555480" y="1965960"/>
            <a:ext cx="777240" cy="777240"/>
          </a:xfrm>
          <a:prstGeom prst="ellipse">
            <a:avLst/>
          </a:prstGeom>
          <a:solidFill>
            <a:srgbClr val="B7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555480" y="1965960"/>
            <a:ext cx="777240" cy="7772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7616" y="3017520"/>
            <a:ext cx="317296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 Rounded MT Bold"/>
              </a:rPr>
              <a:t>Together They Enable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49056" y="3611880"/>
            <a:ext cx="2990088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 i="0">
                <a:solidFill>
                  <a:srgbClr val="B0B0B0"/>
                </a:solidFill>
                <a:latin typeface="Arial"/>
              </a:rPr>
              <a:t>Combined, they create synchronized multi-output systems for real-world applications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120640"/>
            <a:ext cx="11094720" cy="1051560"/>
          </a:xfrm>
          <a:prstGeom prst="roundRect">
            <a:avLst>
              <a:gd name="adj" fmla="val 6000"/>
            </a:avLst>
          </a:prstGeom>
          <a:solidFill>
            <a:srgbClr val="180808"/>
          </a:solidFill>
          <a:ln w="12700">
            <a:solidFill>
              <a:srgbClr val="B7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" y="525780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B71C1C"/>
                </a:solidFill>
                <a:latin typeface="Arial Rounded MT Bold"/>
              </a:rPr>
              <a:t>CONCLUSION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623560"/>
            <a:ext cx="10454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  <a:latin typeface="Arial"/>
              </a:rPr>
              <a:t>Understanding timers and splitters is fundamental to modern electronic control systems and automation.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B0B0B0"/>
                </a:solidFill>
                <a:latin typeface="Arial"/>
              </a:rPr>
              <a:t>TIMERS &amp; SPLITTERS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77600" y="64008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B0B0B0"/>
                </a:solidFill>
                <a:latin typeface="Arial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7255109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F1D0931-D26F-C1AD-8DC3-13AF9CB73AB4}"/>
              </a:ext>
            </a:extLst>
          </p:cNvPr>
          <p:cNvSpPr txBox="1"/>
          <p:nvPr/>
        </p:nvSpPr>
        <p:spPr>
          <a:xfrm>
            <a:off x="2390267" y="1868904"/>
            <a:ext cx="705050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THANK YOU</a:t>
            </a:r>
            <a:endParaRPr lang="en-IN" sz="88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55109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525</Words>
  <Application>Microsoft Office PowerPoint</Application>
  <PresentationFormat>Widescreen</PresentationFormat>
  <Paragraphs>77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DM Sans Bold</vt:lpstr>
      <vt:lpstr>Arial Rounded MT Bold</vt:lpstr>
      <vt:lpstr>Dela Gothic One</vt:lpstr>
      <vt:lpstr>Arial</vt:lpstr>
      <vt:lpstr>DM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ardhi neeraj</cp:lastModifiedBy>
  <cp:revision>6</cp:revision>
  <dcterms:created xsi:type="dcterms:W3CDTF">2026-08-25T14:03:47Z</dcterms:created>
  <dcterms:modified xsi:type="dcterms:W3CDTF">2026-08-26T14:00:58Z</dcterms:modified>
</cp:coreProperties>
</file>